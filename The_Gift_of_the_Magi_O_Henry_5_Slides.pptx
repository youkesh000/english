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640080"/>
            <a:ext cx="2286000" cy="2286000"/>
          </a:xfrm>
          <a:prstGeom prst="ellipse">
            <a:avLst/>
          </a:prstGeom>
          <a:solidFill>
            <a:srgbClr val="EE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433026"/>
                </a:solidFill>
              </a:defRPr>
            </a:pPr>
            <a:r>
              <a:t>THE GIFT OF THE MAGI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7772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9B663E"/>
                </a:solidFill>
              </a:defRPr>
            </a:pPr>
            <a:r>
              <a:t>O. Henry</a:t>
            </a:r>
          </a:p>
          <a:p>
            <a:pPr>
              <a:defRPr sz="1800">
                <a:solidFill>
                  <a:srgbClr val="2D2A28"/>
                </a:solidFill>
              </a:defRPr>
            </a:pPr>
            <a:r>
              <a:t>English Prose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433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3302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33026"/>
                </a:solidFill>
              </a:defRPr>
            </a:pPr>
            <a:r>
              <a:t>About the Author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B663E"/>
                </a:solidFill>
              </a:defRPr>
            </a:pPr>
            <a:r>
              <a:t>O. Henry (1862–1910)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D2A28"/>
                </a:solidFill>
              </a:defRPr>
            </a:pPr>
            <a:r>
              <a:t>O. Henry was an American writer best known for his short stories.</a:t>
            </a:r>
          </a:p>
          <a:p>
            <a:pPr>
              <a:spcAft>
                <a:spcPts val="1500"/>
              </a:spcAft>
              <a:defRPr sz="1900">
                <a:solidFill>
                  <a:srgbClr val="2D2A28"/>
                </a:solidFill>
              </a:defRPr>
            </a:pPr>
            <a:r>
              <a:t>His real name was William Sydney Porter.</a:t>
            </a:r>
          </a:p>
          <a:p>
            <a:pPr>
              <a:spcAft>
                <a:spcPts val="1500"/>
              </a:spcAft>
              <a:defRPr sz="1900">
                <a:solidFill>
                  <a:srgbClr val="2D2A28"/>
                </a:solidFill>
              </a:defRPr>
            </a:pPr>
            <a:r>
              <a:t>He began his most productive period as a writer in 1902 while living in New York City.</a:t>
            </a:r>
          </a:p>
          <a:p>
            <a:pPr>
              <a:spcAft>
                <a:spcPts val="1500"/>
              </a:spcAft>
              <a:defRPr sz="1900">
                <a:solidFill>
                  <a:srgbClr val="2D2A28"/>
                </a:solidFill>
              </a:defRPr>
            </a:pPr>
            <a:r>
              <a:t>His first published collection, Cabbages and Kings, appeared in 1904; The Four Million followed in 1906.</a:t>
            </a:r>
          </a:p>
          <a:p>
            <a:pPr>
              <a:spcAft>
                <a:spcPts val="1500"/>
              </a:spcAft>
              <a:defRPr sz="1900">
                <a:solidFill>
                  <a:srgbClr val="2D2A28"/>
                </a:solidFill>
              </a:defRPr>
            </a:pPr>
            <a:r>
              <a:t>His famous stories include The Gift of the Magi and The Cop and the Anthem.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433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3302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33026"/>
                </a:solidFill>
              </a:defRPr>
            </a:pPr>
            <a:r>
              <a:t>About the Story &amp; Setting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D2A28"/>
                </a:solidFill>
              </a:defRPr>
            </a:pPr>
            <a:r>
              <a:t>The Gift of the Magi was first published in the New York Sunday World on December 10, 1905.</a:t>
            </a:r>
          </a:p>
          <a:p>
            <a:pPr>
              <a:spcAft>
                <a:spcPts val="1500"/>
              </a:spcAft>
              <a:defRPr sz="1900">
                <a:solidFill>
                  <a:srgbClr val="2D2A28"/>
                </a:solidFill>
              </a:defRPr>
            </a:pPr>
            <a:r>
              <a:t>It was later included in O. Henry’s collection The Four Million in 1906.</a:t>
            </a:r>
          </a:p>
          <a:p>
            <a:pPr>
              <a:spcAft>
                <a:spcPts val="1500"/>
              </a:spcAft>
              <a:defRPr sz="1900">
                <a:solidFill>
                  <a:srgbClr val="2D2A28"/>
                </a:solidFill>
              </a:defRPr>
            </a:pPr>
            <a:r>
              <a:t>The story follows a young, financially struggling couple, Jim and Della.</a:t>
            </a:r>
          </a:p>
          <a:p>
            <a:pPr>
              <a:spcAft>
                <a:spcPts val="1500"/>
              </a:spcAft>
              <a:defRPr sz="1900">
                <a:solidFill>
                  <a:srgbClr val="2D2A28"/>
                </a:solidFill>
              </a:defRPr>
            </a:pPr>
            <a:r>
              <a:t>They live in a small New York City apartment and are preparing for Christmas.</a:t>
            </a:r>
          </a:p>
          <a:p>
            <a:pPr>
              <a:spcAft>
                <a:spcPts val="1500"/>
              </a:spcAft>
              <a:defRPr sz="1900">
                <a:solidFill>
                  <a:srgbClr val="2D2A28"/>
                </a:solidFill>
              </a:defRPr>
            </a:pPr>
            <a:r>
              <a:t>Although they have very little money, they deeply love each other and want to give one another a special gift.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433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3302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33026"/>
                </a:solidFill>
              </a:defRPr>
            </a:pPr>
            <a:r>
              <a:t>Story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B663E"/>
                </a:solidFill>
              </a:defRPr>
            </a:pPr>
            <a:r>
              <a:t>Jim and Della’s Christmas gifts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D2A28"/>
                </a:solidFill>
              </a:defRPr>
            </a:pPr>
            <a:r>
              <a:t>Della has only $1.87 to buy Jim a Christmas present, so she decides to sell her beautiful long hair.</a:t>
            </a:r>
          </a:p>
          <a:p>
            <a:pPr>
              <a:spcAft>
                <a:spcPts val="1500"/>
              </a:spcAft>
              <a:defRPr sz="1800">
                <a:solidFill>
                  <a:srgbClr val="2D2A28"/>
                </a:solidFill>
              </a:defRPr>
            </a:pPr>
            <a:r>
              <a:t>With the money, she buys a platinum chain for Jim’s treasured gold watch.</a:t>
            </a:r>
          </a:p>
          <a:p>
            <a:pPr>
              <a:spcAft>
                <a:spcPts val="1500"/>
              </a:spcAft>
              <a:defRPr sz="1800">
                <a:solidFill>
                  <a:srgbClr val="2D2A28"/>
                </a:solidFill>
              </a:defRPr>
            </a:pPr>
            <a:r>
              <a:t>Jim, meanwhile, sells his valuable gold watch to buy Della a beautiful set of combs for her hair.</a:t>
            </a:r>
          </a:p>
          <a:p>
            <a:pPr>
              <a:spcAft>
                <a:spcPts val="1500"/>
              </a:spcAft>
              <a:defRPr sz="1800">
                <a:solidFill>
                  <a:srgbClr val="2D2A28"/>
                </a:solidFill>
              </a:defRPr>
            </a:pPr>
            <a:r>
              <a:t>When they exchange gifts, they discover that each gift has become temporarily unusable because of the sacrifices they made.</a:t>
            </a:r>
          </a:p>
          <a:p>
            <a:pPr>
              <a:spcAft>
                <a:spcPts val="1500"/>
              </a:spcAft>
              <a:defRPr sz="1800">
                <a:solidFill>
                  <a:srgbClr val="2D2A28"/>
                </a:solidFill>
              </a:defRPr>
            </a:pPr>
            <a:r>
              <a:t>Their actions show that their love and willingness to sacrifice for each other are more valuable than the gifts themselves.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433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3302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33026"/>
                </a:solidFill>
              </a:defRPr>
            </a:pPr>
            <a:r>
              <a:t>Themes, Message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D2A28"/>
                </a:solidFill>
              </a:defRPr>
            </a:pPr>
            <a:r>
              <a:t>Love and Sacrifice: Jim and Della willingly give up their most precious possessions for each other.</a:t>
            </a:r>
          </a:p>
          <a:p>
            <a:pPr>
              <a:spcAft>
                <a:spcPts val="1500"/>
              </a:spcAft>
              <a:defRPr sz="1800">
                <a:solidFill>
                  <a:srgbClr val="2D2A28"/>
                </a:solidFill>
              </a:defRPr>
            </a:pPr>
            <a:r>
              <a:t>Generosity: Their gifts are meaningful because they are chosen with genuine love.</a:t>
            </a:r>
          </a:p>
          <a:p>
            <a:pPr>
              <a:spcAft>
                <a:spcPts val="1500"/>
              </a:spcAft>
              <a:defRPr sz="1800">
                <a:solidFill>
                  <a:srgbClr val="2D2A28"/>
                </a:solidFill>
              </a:defRPr>
            </a:pPr>
            <a:r>
              <a:t>Selflessness: Both characters put the happiness of the other person before their own possessions.</a:t>
            </a:r>
          </a:p>
          <a:p>
            <a:pPr>
              <a:spcAft>
                <a:spcPts val="1500"/>
              </a:spcAft>
              <a:defRPr sz="1800">
                <a:solidFill>
                  <a:srgbClr val="2D2A28"/>
                </a:solidFill>
              </a:defRPr>
            </a:pPr>
            <a:r>
              <a:t>The title refers to the Magi, the wise men who brought gifts to Jesus. O. Henry calls Jim and Della the wisest gift-givers.</a:t>
            </a:r>
          </a:p>
          <a:p>
            <a:pPr>
              <a:spcAft>
                <a:spcPts val="1500"/>
              </a:spcAft>
              <a:defRPr sz="1800">
                <a:solidFill>
                  <a:srgbClr val="2D2A28"/>
                </a:solidFill>
              </a:defRPr>
            </a:pPr>
            <a:r>
              <a:t>Moral: True love is measured not by the price of a gift, but by the love, thought and sacrifice behind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7150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9B663E"/>
                </a:solidFill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433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3302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