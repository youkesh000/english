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640080"/>
            <a:ext cx="2103120" cy="2103120"/>
          </a:xfrm>
          <a:prstGeom prst="ellipse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4B"/>
                </a:solidFill>
              </a:defRPr>
            </a:pPr>
            <a:r>
              <a:t>LISTENING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678AA"/>
                </a:solidFill>
              </a:defRPr>
            </a:pPr>
            <a:r>
              <a:t>A Day of Listening</a:t>
            </a:r>
          </a:p>
          <a:p>
            <a:pPr>
              <a:defRPr sz="2200">
                <a:solidFill>
                  <a:srgbClr val="232830"/>
                </a:solidFill>
              </a:defRPr>
            </a:pPr>
            <a:r>
              <a:t>By Robin Sharma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English Prose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2D4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About the Author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678AA"/>
                </a:solidFill>
              </a:defRPr>
            </a:pPr>
            <a:r>
              <a:t>Robin Sharma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Robin Sharma is a Canadian writer and a well-known leadership expert.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His teachings are followed by celebrities, royalty, billionaires and prominent CEOs.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He has worked with organizations such as NASA, Microsoft, Nike, Unilever, General Electric, FedEx and Starbucks.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He founded the Robin Sharma Foundation for Children (RSFC), a charitable organization dedicated to helping underprivileged children.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2D4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About the Prose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678AA"/>
                </a:solidFill>
              </a:defRPr>
            </a:pPr>
            <a:r>
              <a:t>“A Day of Listening”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32830"/>
                </a:solidFill>
              </a:defRPr>
            </a:pPr>
            <a:r>
              <a:t>The essay “A Day of Listening” was published in Robin Sharma Articles on February 25, 2016.</a:t>
            </a:r>
          </a:p>
          <a:p>
            <a:pPr>
              <a:spcAft>
                <a:spcPts val="1600"/>
              </a:spcAft>
              <a:defRPr sz="2100">
                <a:solidFill>
                  <a:srgbClr val="232830"/>
                </a:solidFill>
              </a:defRPr>
            </a:pPr>
            <a:r>
              <a:t>The prose explains why listening is an important quality in communication and leadership.</a:t>
            </a:r>
          </a:p>
          <a:p>
            <a:pPr>
              <a:spcAft>
                <a:spcPts val="1600"/>
              </a:spcAft>
              <a:defRPr sz="2100">
                <a:solidFill>
                  <a:srgbClr val="232830"/>
                </a:solidFill>
              </a:defRPr>
            </a:pPr>
            <a:r>
              <a:t>Listening makes people feel special and respected.</a:t>
            </a:r>
          </a:p>
          <a:p>
            <a:pPr>
              <a:spcAft>
                <a:spcPts val="1600"/>
              </a:spcAft>
              <a:defRPr sz="2100">
                <a:solidFill>
                  <a:srgbClr val="232830"/>
                </a:solidFill>
              </a:defRPr>
            </a:pPr>
            <a:r>
              <a:t>Good listening helps us gather information that can improve what we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2D4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Key Ideas of the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678AA"/>
                </a:solidFill>
              </a:defRPr>
            </a:pPr>
            <a:r>
              <a:t>What does Sharma teach us about listening?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691640"/>
          </a:xfrm>
          <a:prstGeom prst="roundRect">
            <a:avLst/>
          </a:prstGeom>
          <a:solidFill>
            <a:srgbClr val="E1EBF5"/>
          </a:solidFill>
          <a:ln>
            <a:solidFill>
              <a:srgbClr val="4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92D4B"/>
                </a:solidFill>
              </a:defRPr>
            </a:pPr>
            <a:r>
              <a:t>Respect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Listening shows that we value and respect another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1691640"/>
          </a:xfrm>
          <a:prstGeom prst="roundRect">
            <a:avLst/>
          </a:prstGeom>
          <a:solidFill>
            <a:srgbClr val="E1EBF5"/>
          </a:solidFill>
          <a:ln>
            <a:solidFill>
              <a:srgbClr val="4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19072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92D4B"/>
                </a:solidFill>
              </a:defRPr>
            </a:pPr>
            <a:r>
              <a:t>Attention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Give the speaker your full attention instead of preparing your reply.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12080" cy="1691640"/>
          </a:xfrm>
          <a:prstGeom prst="roundRect">
            <a:avLst/>
          </a:prstGeom>
          <a:solidFill>
            <a:srgbClr val="E1EBF5"/>
          </a:solidFill>
          <a:ln>
            <a:solidFill>
              <a:srgbClr val="4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59352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92D4B"/>
                </a:solidFill>
              </a:defRPr>
            </a:pPr>
            <a:r>
              <a:t>Understanding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Careful listening helps us understand people and gather useful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1691640"/>
          </a:xfrm>
          <a:prstGeom prst="roundRect">
            <a:avLst/>
          </a:prstGeom>
          <a:solidFill>
            <a:srgbClr val="E1EBF5"/>
          </a:solidFill>
          <a:ln>
            <a:solidFill>
              <a:srgbClr val="4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959352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92D4B"/>
                </a:solidFill>
              </a:defRPr>
            </a:pPr>
            <a:r>
              <a:t>Better Performance</a:t>
            </a:r>
          </a:p>
          <a:p>
            <a:pPr>
              <a:defRPr sz="1600">
                <a:solidFill>
                  <a:srgbClr val="232830"/>
                </a:solidFill>
              </a:defRPr>
            </a:pPr>
            <a:r>
              <a:t>Brilliant performers are often brilliant listeners because listening can improve what we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2D4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678AA"/>
                </a:solidFill>
              </a:defRPr>
            </a:pPr>
            <a:r>
              <a:t>The message of “A Day of Listening”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Listening is more than simply hearing words; it means being fully present for another person.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We should avoid interrupting, rehearsing our answer while someone speaks, or checking messages during a conversation.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Everyone has a voice and everyone wants to be heard.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By listening carefully, we build respect, understanding and better relationships.</a:t>
            </a:r>
          </a:p>
          <a:p>
            <a:pPr>
              <a:spcAft>
                <a:spcPts val="1600"/>
              </a:spcAft>
              <a:defRPr sz="2000">
                <a:solidFill>
                  <a:srgbClr val="232830"/>
                </a:solidFill>
              </a:defRPr>
            </a:pPr>
            <a:r>
              <a:t>Takeaway: “Just listen. Just hear. Just be there for that person.”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678AA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2D4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